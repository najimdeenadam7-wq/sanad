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WARBA BANK CORPORATE BANKING AI CHALLENGE 2026</a:t>
            </a:r>
          </a:p>
          <a:p>
            <a:pPr>
              <a:spcBef>
                <a:spcPts val="600"/>
              </a:spcBef>
              <a:defRPr sz="4600" b="1">
                <a:solidFill>
                  <a:srgbClr val="FFFFFF"/>
                </a:solidFill>
              </a:defRPr>
            </a:pPr>
            <a:r>
              <a:t>SANAD (سند)</a:t>
            </a:r>
          </a:p>
          <a:p>
            <a:pPr>
              <a:spcBef>
                <a:spcPts val="600"/>
              </a:spcBef>
              <a:defRPr sz="2200" b="1">
                <a:solidFill>
                  <a:srgbClr val="3B82F6"/>
                </a:solidFill>
              </a:defRPr>
            </a:pPr>
            <a:r>
              <a:t>Autonomous Forensic Intelligence &amp; Shariah Underwriting Engine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</a:defRPr>
            </a:pPr>
            <a:r>
              <a:t>Track 1: AI-Powered Client Documentation &amp; Underwriting</a:t>
            </a:r>
            <a:br/>
            <a:r>
              <a:t>From an 11-Day Manual Friction into a 38-Second Perfected Credit Dossier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480560"/>
            <a:ext cx="10332720" cy="1737360"/>
          </a:xfrm>
          <a:prstGeom prst="roundRect">
            <a:avLst/>
          </a:prstGeom>
          <a:solidFill>
            <a:srgbClr val="12192D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👥 Core Team: Najimdeen Adam Oyeyemi &amp; Olagunju Temitope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💻 Stack: React 19, TypeScript, Vite, Python (FastAPI), Google Gemini 2.5, Docker, Railway, Netlify</a:t>
            </a:r>
          </a:p>
          <a:p>
            <a:pPr>
              <a:spcBef>
                <a:spcPts val="300"/>
              </a:spcBef>
              <a:defRPr sz="1050" b="1">
                <a:solidFill>
                  <a:srgbClr val="3B82F6"/>
                </a:solidFill>
              </a:defRPr>
            </a:pPr>
            <a:r>
              <a:t>🌐 Live Production Web App: https://sanad-engine.netlify.app | ⚡ Backend API: https://sanad-production-9d51.up.railway.app/health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📂 Public GitHub Repository: https://github.com/anajimdeen01-debug/sanad-frontend</a:t>
            </a:r>
            <a:br/>
            <a:r>
              <a:t>📜 Standard Adherence: AAOIFI Standards No. 21 &amp; 35 | Central Bank of Kuwait (CBK) Risk Covenants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Core Problem: Anatomy of the 11-Day Underwriting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Fragmented Dossiers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Manual Status Quo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Relationship Managers spend 65% of working hours chasing and reconciling 70+ pages of PDF filings.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Audited balance sheets, MOCI extracts, and letters reviewed across disjointed operational silos.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Creates 8–14 day turnaround delays where high-velocity corporate borrowers are poached by rivals.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Isolated OCR Blind Spots</a:t>
            </a:r>
          </a:p>
          <a:p>
            <a:pPr>
              <a:defRPr sz="1000" b="1">
                <a:solidFill>
                  <a:srgbClr val="EF4444"/>
                </a:solidFill>
              </a:defRPr>
            </a:pPr>
            <a:r>
              <a:t>Hidden Liquidation Risk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Conventional OCR tools analyze files in isolation without multi-source circularization.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Completely miss contradictions between credit declarations and official court gazettes.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Undisclosed performance bonds and affiliate debentures slip into sanctioned facilities.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Manual Shariah Scrubbing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Governance Delay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Shariah teams must manually comb line-by-line through P&amp;L 'Other Income' footnotes.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Conventional deposit interest income requires legally binding Taharah purification.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Manual Zakat and purification math creates governance friction before drawdown.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Architecture: End-to-End 5-Pillar Operating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Pillar 1: Sovereign Ingestion &amp; Redaction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Zero Data Leakage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Multi-file ingestion (PDF, Word, Excel, scanned tables).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On-premise regex &amp; NER redactor strips Kuwait Civil IDs and PII.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Ensures 100% compliance with CBK data sovereignty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Pillar 2: Adversarial Circularization</a:t>
            </a:r>
          </a:p>
          <a:p>
            <a:pPr>
              <a:defRPr sz="1000" b="1">
                <a:solidFill>
                  <a:srgbClr val="EF4444"/>
                </a:solidFill>
              </a:defRPr>
            </a:pPr>
            <a:r>
              <a:t>Discrepancy Hunter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Cross-examines applicant claims against external registers.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Integrates MOCI Commercial Registry &amp; CiNet Credit Bureau.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Surfaces undisclosed guarantees &amp; conflicting encumbrances.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Pillar 3: AAOIFI Shariah Core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Deterministic Purification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Automated screening under AAOIFI Standard No. 21 (&lt;5% income).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Calculates exact Taharah purification dividend down to the fil.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Pre-drafts electronic transfer voucher to Bait Al-Zakat Kuwait.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Pillar 4 &amp; 5: Documentation &amp; RM Radar</a:t>
            </a:r>
          </a:p>
          <a:p>
            <a:pPr>
              <a:defRPr sz="1000" b="1">
                <a:solidFill>
                  <a:srgbClr val="A855F7"/>
                </a:solidFill>
              </a:defRPr>
            </a:pPr>
            <a:r>
              <a:t>Front-Office Enabler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Client Documentation Studio: Auto-generates CAM, Term Sheet, RM Brief.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Live Covenant Stress: -25% revenue shock &amp; +150 bps rate simulations.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Proactive RM Radar: Uncovers +KWD 700k expansion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Pillar 1: Sovereign Data Redaction &amp; Ingestion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How Ingestion Operates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Universal Input Layer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Multi-Format Parser: Handles PDF scans, Excel financial models, Word charters, and MOCI extracts concurrently.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Instant CR Intake: Relationship Managers can enter a Kuwait Commercial Registration number (e.g. 204918-KW) to immediately pull pre-circularized telemetry.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Table Structure Preservation: Accurately parses multi-period balance sheets, cash flow schedules, and footnote notes without losing column hierarchy.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CBK Sovereign Privacy Shield (Why Unique)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Regulatory Compliance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On-Premise PII Scrubbing: Strips sensitive Kuwait Civil IDs, private telephone numbers, and residential addresses prior to LLM processing.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Air-Gapped Compliance: Eliminates cross-border sovereign data leakage, adhering strictly to Central Bank of Kuwait (CBK) data sovereignty directives.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Cryptographic Provenance: Generates SHA-256 document fingerprints ensuring the ingested document has not been tampered with post-upload.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Pillar 2: Adversarial Forensic Circularization &amp; Conflict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How It Operates (Adversarial Checking)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Multi-Source Intelligence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Cross-Document Verification: Treats every borrower statement as an adversarial claim that must be corroborated by independent official records.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Automated Circularization: Simultaneously cross-references loan application affidavits, audited financial footnotes (Notes 14, 18, 22), MOCI registration certificates, and Central Bank (CiNet) bureau reports.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Conflict Exposure Quantification: Calculates the exact monetary exposure in KWD associated with each contradiction.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Autonomous Legal Remediation (How It Does It)</a:t>
            </a:r>
          </a:p>
          <a:p>
            <a:pPr>
              <a:defRPr sz="1000" b="1">
                <a:solidFill>
                  <a:srgbClr val="EF4444"/>
                </a:solidFill>
              </a:defRPr>
            </a:pPr>
            <a:r>
              <a:t>Defensive Structuring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Automated Covenant Generation: When an undisclosed liability is caught (e.g. sister-company bond), SANAD does not merely reject the file.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Synthesis of Legal Armor: Automatically drafts the exact protective Condition Precedent: 'Borrower must execute an irrevocable Priority &amp; Subordination Deed ranking Warba Bank senior to affiliate debenture.'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1-Click Evidence Grounding: Committee members click citation pills to view the verbatim conflicting document excerpts side-by-side.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Pillar 3: AAOIFI Shariah Core &amp; Autonomous Taharah Purification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AAOIFI Standard No. 21 Screening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Financial Papers Standard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Footnote Scanning: Screens P&amp;L schedules and 'Other Income' footnotes for conventional bank interest and non-halal sub-lease income.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Prohibited Income Test: Prohibited Income ÷ Total Revenue must remain &lt; 5.0% (e.g. Gulf Pearl Foods = 0.09% PASS; Qabas Trading = 8.40% BREACH).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Debt-to-Assets Leverage Test: Conventional Interest-Bearing Debt ÷ Total Assets must remain &lt; 30.0% (e.g. Gulf Pearl = 22.4% PASS; Qabas = 42.5% BREACH).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Liquid Assets Floor: Evaluates cash and liquid instruments against the 33.0% minimum threshold.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Deterministic Taharah &amp; Zakat Calculation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Standard No. 35 Zakat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100% Disgorgement Mandate: 100% of non-compliant earnings are isolated down to the fil for purification (Taharah).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Bait Al-Zakat Remittance Voucher: Pre-drafts electronic remittance voucher designating Bait Al-Zakat Kuwait (General Waqf Fund) as beneficiary.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AAOIFI Standard No. 35 (Zakat): Calculates the Zakatable base using the step-down proxy (60% of total assets) and applies the 2.577% solar Zakat factor.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Zero Shariah Friction: Transforms a multi-week Shariah Board review into an instant, deterministic sign-off.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Pillar 4: Financial Analytics &amp; Live Covenant Stress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Cash Flow Velocity &amp; Ratio Engine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Core Banking Formulas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Normalized Operating EBITDA: Filters out non-recurring gains to establish true sustainable cash flow.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Debt Service Coverage Ratio (DSCR): Calculated dynamically as Operating EBITDA ÷ Total Annual Debt Service commitments.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Covenant Floor Enforcement: Enforces Warba Bank's strict 1.25x minimum DSCR policy threshold.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Loan-to-Value (LTV): Evaluates facility size against certified real estate or asset appraisal backing (Policy ceiling: 80.0%).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Cash Conversion Forensics: Computes Days Sales Outstanding (DSO) and compares against industry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Real-Time Macroeconomic Stress Simulator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Committee Decision Tool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Interactive Underwriting Sliders: Allows committee members to simulate stress scenarios live during committee deliberations.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Shock 1 (-15% to -25% Revenue Downturn): Models sector-wide supply chain disruptions and margin compression.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Shock 2 (+150 to +250 bps Rate Hike): Models Central Bank of Kuwait (CBK) discount rate tightening pass-through.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Combined Crisis Simulation: Simultaneously stresses revenue by -20% and benchmark rates by +250 bps to verify capital survival.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Immediate Visual Feedback: Recharts bar visualizer displays resulting DSCR against the 1.25x floor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Track 1 Core Deliverable: Client Documentation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Credit Memo (CAM)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Official Bank Template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Warba Bank Corporate Credit Committee executive format.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Transaction appraisal, historical revenue growth, operating margin, and DSCR velocity.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Footnote citations linked to SHA-256 verification hashes.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Murabaha Term Sheet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Financing Contract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Binding financing agreement terms (Commodity Murabaha / Tawarruq).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Margin pricing: CBK Discount Rate + 2.25% p.a. (Profit floor 5.50%).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Mandatory covenants: Min 1.25x DSCR &amp; 1st-degree collateral lien.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RM Executive Brief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Front-Office Enabler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1-page commercial cheat-sheet for front-office relationship bankers.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Key negotiation talking points and operating strengths.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Expansion upsell triggers: +KWD 700k expansion &amp; trade LC financing.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SSB Taharah Memo</a:t>
            </a:r>
          </a:p>
          <a:p>
            <a:pPr>
              <a:defRPr sz="1000" b="1">
                <a:solidFill>
                  <a:srgbClr val="A855F7"/>
                </a:solidFill>
              </a:defRPr>
            </a:pPr>
            <a:r>
              <a:t>Shariah Endorsement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Shariah Supervisory Board endorsement packet.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AAOIFI Standards 21 &amp; 35 compliance certificate.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Pre-drafted Bait Al-Zakat donation voucher ready prior to drawdown.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Real-World Forensic Audit: Gulf Pearl Foods (CR #204918-KW)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The Deception: Undisclosed Performance Bond</a:t>
            </a:r>
          </a:p>
          <a:p>
            <a:pPr>
              <a:defRPr sz="1000" b="1">
                <a:solidFill>
                  <a:srgbClr val="EF4444"/>
                </a:solidFill>
              </a:defRPr>
            </a:pPr>
            <a:r>
              <a:t>Discrepancy Ref #F-922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The Borrower Claim: In Credit Application Clause 5.2, company asserted 'Zero Contingent Liabilities &amp; Zero Affiliate Guarantees'.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The Forensic Discovery: SANAD's automated circularization scanned Ministry of Justice Gazette Vol 44 and uncovered an active KWD 350,000 corporate bond issued to sister entity Pearl Logistics.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The Liquidation Risk: In insolvency, this hidden guarantee would dilute Warba Bank's ranking as senior secured creditor.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The Evidence Trail: Directly binds credit committee to Gazette Entry 18 and Balance Sheet Note 14.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The Automated Remediation: Protective Covenant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Autonomous Legal Armor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Condition Precedent: SANAD synthesized a mandatory Condition Precedent for the credit agreement: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'Borrower must execute an irrevocable Priority &amp; Subordination Deed ranking Warba Bank facility senior to affiliate guarantee.'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Shariah Purification: Detected KWD 7,900 conventional interest in Note 7; drafted transfer order to Bait Al-Zakat.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Outcome: Prevents KWD 350,000 credit impairment while closing the facility in 38 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Front-Office Growth: Proactive RM Revenue 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Turnaround Velocity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Time-to-Yes Advantage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11 Days → 38 Seconds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94% reduction in manual document synthesis time.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Accelerates credit approval turnaround from 2 weeks to same-day review.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Allows Warba Bank to capture prime commercial borrowers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Balance-Sheet Expansion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RM Revenue Radar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+KWD 700K Facility Upsell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Detected unencumbered liquid inventory cushion of KWD 1.2M.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Recommended +KWD 700k Murabaha facility expansion (DSCR 3.80x safe).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Generates +KWD 39,375 net profit margin annually for Warba Bank.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Trade Finance Cross-Sell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Wallet-Share Growth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Import LC &amp; FX Hedging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Analyzed supplier import ledgers from Southeast Asian suppliers.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Pre-drafted proposal for Import Letters of Credit (LCs) and FX forward lines.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Expands fee income wallet share while deepening client loyalty.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Competitive Advantage: Why SANAD Is Uniquely Defensible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Why Generic GenAI &amp; OCR Fail in Banking</a:t>
            </a:r>
          </a:p>
          <a:p>
            <a:pPr>
              <a:defRPr sz="1000" b="1">
                <a:solidFill>
                  <a:srgbClr val="EF4444"/>
                </a:solidFill>
              </a:defRPr>
            </a:pPr>
            <a:r>
              <a:t>Existing Technological Limits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Generic GenAI (ChatGPT/Claude): Evaluates single prompts in isolation, suffers from hallucinations, lacks mathematical precision, and leaks sensitive PII to public clouds.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Legacy OCR (ABBYY/Kofax): Simply digitizes paper into text or raw tables. Zero adversarial circularization, zero understanding of Shariah standards, and zero ability to draft covenants.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Legacy Core Systems (Finacle): Pure transaction ledgers; unable to interpret unstructured legal gazettes or perform forensic audits.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The SANAD Moat: Uniquely Built for Warba Bank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Institutional Defensibility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Adversarial Multi-Source Circularization: The only engine that actively hunts contradictions between credit declarations and external registries.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Deterministic AAOIFI Taharah Engine: Solves Islamic banking's biggest friction by automating purification math down to the fil.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CBK Sovereign Privacy Shield: On-premise sanitization ensures zero regulatory air-gap breaches.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Cryptographic Governance Ledger: SHA-256 and Merkle root block height verify institutional auditability.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Engineering Team &amp; Production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Engineering Team Leadership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Founding Team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Najimdeen Adam Oyeyemi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Role: Lead AI &amp; Financial Systems Architect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Engineered: Google Gemini 2.5 autonomous multi-doc analysis pipelines, adversarial circularization engine, and AAOIFI deterministic Shariah accounting modules.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 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Olagunju Temitope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Role: Full-Stack &amp; Cloud Infrastructure Engineer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Engineered: High-availability FastAPI backend, cryptographic governance ledger, institutional React 19 UI, and production containerization on Railway &amp; Netlify.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Enterprise Technology Stack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Modular Architecture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Frontend Architecture: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React 19, TypeScript, Vite, Tailwind CSS, Lucide Icons, Recharts financial data visualization.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Backend &amp; Microservices: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Python 3.11, FastAPI, Uvicorn ASGI server, Pydantic schemas, python-docx, python-pptx, ReportLab.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AI &amp; Analytical Inference: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Google Gemini 2.5 Flash / Pro (multi-modal reasoning, unscripted document analysis, automated CAM synthesis).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Cloud &amp; Deployment Infrastructure: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Railway (Containerized Python API), Netlify (Global CDN Edge Web Hosting), Git / GitHub.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Production Readiness: Live Demo &amp; 60-Second Evaluation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Test the Live Production Application Directly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Live Evaluation Protocol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🌐 Live Production Web App: https://sanad-engine.netlify.app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⚡ Live Backend API: https://sanad-production-9d51.up.railway.app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📂 GitHub Code Repository: https://github.com/anajimdeen01-debug/sanad-frontend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👥 Engineering Team: Najimdeen Adam Oyeyemi &amp; Olagunju Temitope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 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STEP-BY-STEP EVALUATION GUIDE FOR JUDGES (60 SECONDS):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1. Open Gulf Pearl Foods Trading (CR #204918-KW) from the main directory.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2. Read the 4 AI Forensic Chapters authored dynamically by Google Gemini.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3. Click citation [#F-922: Undisclosed Bond] to inspect the document provenance modal.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4. Click '⚡ Re-Analyze with Gemini' to watch live unscripted reasoning in real-time.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5. Slide the Revenue Stress slider to -25% and observe real-time DSCR recalculation.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6. Switch to 'Client Documentation Studio' to inspect the CAM, Term Sheet, and RM Brief.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7. Click 'Sign as Analyst' and 'Sign as SCU' to record cryptographic governance endorsements.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