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WARBA BANK CORPORATE BANKING AI CHALLENGE 2026</a:t>
            </a:r>
          </a:p>
          <a:p>
            <a:pPr>
              <a:spcBef>
                <a:spcPts val="800"/>
              </a:spcBef>
              <a:defRPr sz="4800" b="1">
                <a:solidFill>
                  <a:srgbClr val="FFFFFF"/>
                </a:solidFill>
              </a:defRPr>
            </a:pPr>
            <a:r>
              <a:t>SANAD (سند)</a:t>
            </a:r>
          </a:p>
          <a:p>
            <a:pPr>
              <a:spcBef>
                <a:spcPts val="600"/>
              </a:spcBef>
              <a:defRPr sz="2200">
                <a:solidFill>
                  <a:srgbClr val="3B82F6"/>
                </a:solidFill>
              </a:defRPr>
            </a:pPr>
            <a:r>
              <a:t>Autonomous Forensic Intelligence &amp; Shariah Underwriting Engine</a:t>
            </a:r>
          </a:p>
          <a:p>
            <a:pPr>
              <a:spcBef>
                <a:spcPts val="1600"/>
              </a:spcBef>
              <a:defRPr sz="1400">
                <a:solidFill>
                  <a:srgbClr val="CBD5E1"/>
                </a:solidFill>
              </a:defRPr>
            </a:pPr>
            <a:r>
              <a:t>Track 1: AI-Powered Client Documentation &amp; Underwriting</a:t>
            </a:r>
            <a:br/>
            <a:r>
              <a:t>From an 11-Day Manual Bottleneck to a 38-Second Perfected Credit Dossier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4754880"/>
            <a:ext cx="10332720" cy="1188720"/>
          </a:xfrm>
          <a:prstGeom prst="roundRect">
            <a:avLst/>
          </a:prstGeom>
          <a:solidFill>
            <a:srgbClr val="12192D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8920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🌐 Live Production Web App: https://sanad-engine.netlify.app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⚡ Backend API: https://sanad-production-9d51.up.railway.app | Code: https://github.com/anajimdeen01-debug/sanad-frontend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WARBA BANK CORPORATE BANKING · TRACK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Core Problem: The 11-Day Underwriting Bottleneck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2192D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Fragmented Dossiers</a:t>
            </a:r>
          </a:p>
          <a:p>
            <a:pPr>
              <a:defRPr sz="1000">
                <a:solidFill>
                  <a:srgbClr val="F59E0B"/>
                </a:solidFill>
              </a:defRPr>
            </a:pPr>
            <a:r>
              <a:t>Manual Status Quo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Relationship Managers spend 65% of working hours chasing 70+ pages of PDF filings.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Audited balance sheets, MOCI extracts, and letters reviewed in disjointed silos.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Creates 8–14 day turnaround delays where high-velocity clients are lost to rivals.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2192D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8308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Hidden Liquidation Liens</a:t>
            </a:r>
          </a:p>
          <a:p>
            <a:pPr>
              <a:defRPr sz="1000">
                <a:solidFill>
                  <a:srgbClr val="EF4444"/>
                </a:solidFill>
              </a:defRPr>
            </a:pPr>
            <a:r>
              <a:t>Blind-Spot Risk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Conventional OCR tools analyze files in isolation without cross-checking.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Completely miss contradictions between application claims and court gazettes.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Undisclosed performance bonds and sister-company debentures slip through.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2192D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78308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Manual Shariah Scrubbing</a:t>
            </a:r>
          </a:p>
          <a:p>
            <a:pPr>
              <a:defRPr sz="1000">
                <a:solidFill>
                  <a:srgbClr val="3B82F6"/>
                </a:solidFill>
              </a:defRPr>
            </a:pPr>
            <a:r>
              <a:t>Governance Delay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Shariah teams must manually comb line-by-line through 'Other Income' footnotes.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Conventional deposit interest income requires legally binding Taharah purification.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Manual Zakat and purification math creates governance friction before drawdown.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WARBA BANK CORPORATE BANKING · TRACK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SANAD Architecture: Autonomous Forensic Intelligence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2192D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1. Forensic Circularization</a:t>
            </a:r>
          </a:p>
          <a:p>
            <a:pPr>
              <a:defRPr sz="1000">
                <a:solidFill>
                  <a:srgbClr val="3B82F6"/>
                </a:solidFill>
              </a:defRPr>
            </a:pPr>
            <a:r>
              <a:t>Zero Document Isolation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Multi-Document Parser: Ingests audited financials, CiNet bureau reports, MOCI registry extracts, and PACI data simultaneously.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Adversarial Discrepancy Hunter: Cross-examines declarations against registry filings to uncover undisclosed liabilities.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Sovereign Redaction: Client PII sanitized in accordance with Central Bank of Kuwait (CBK) sovereign data rules.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2192D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2. Shariah &amp; Financial Core</a:t>
            </a:r>
          </a:p>
          <a:p>
            <a:pPr>
              <a:defRPr sz="1000">
                <a:solidFill>
                  <a:srgbClr val="10B981"/>
                </a:solidFill>
              </a:defRPr>
            </a:pPr>
            <a:r>
              <a:t>Automated Compliance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AAOIFI Standard No. 21 Engine: Automatically calculates non-halal income ratio (&lt;5% ceiling) and debt-to-assets ratio (&lt;30% ceiling).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Taharah Cleansing Mandate: Calculates exact dividend purification down to the fil and drafts Bait Al-Zakat remittance transfer order.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Covenant Stress Simulator: Monte Carlo stress testing under -25% revenue downturns and +150 bps discount rate hikes.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WARBA BANK CORPORATE BANKING · TRACK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Track 1 Deliverable: Client Documentation Studio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4389120"/>
          </a:xfrm>
          <a:prstGeom prst="roundRect">
            <a:avLst/>
          </a:prstGeom>
          <a:solidFill>
            <a:srgbClr val="12192D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2103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Credit Memo (CAM)</a:t>
            </a:r>
          </a:p>
          <a:p>
            <a:pPr>
              <a:defRPr sz="1000">
                <a:solidFill>
                  <a:srgbClr val="3B82F6"/>
                </a:solidFill>
              </a:defRPr>
            </a:pPr>
            <a:r>
              <a:t>Official Banking Template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Warba Bank official executive memorandum format.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Comprehensive borrower appraisal, revenue velocity, and debt coverage.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Verbatim page citations with SHA-256 grounding hashes.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45920"/>
            <a:ext cx="2468880" cy="4389120"/>
          </a:xfrm>
          <a:prstGeom prst="roundRect">
            <a:avLst/>
          </a:prstGeom>
          <a:solidFill>
            <a:srgbClr val="12192D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1783080"/>
            <a:ext cx="2103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Murabaha Term Sheet</a:t>
            </a:r>
          </a:p>
          <a:p>
            <a:pPr>
              <a:defRPr sz="1000">
                <a:solidFill>
                  <a:srgbClr val="10B981"/>
                </a:solidFill>
              </a:defRPr>
            </a:pPr>
            <a:r>
              <a:t>Financing Agreement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Binding facility structure (Commodity Murabaha / Tawarruq).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Automated margin pricing: CBK Discount Rate + 2.25% p.a.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Covenants: Min 1.25x DSCR &amp; registered first-degree lien.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2468880" cy="4389120"/>
          </a:xfrm>
          <a:prstGeom prst="roundRect">
            <a:avLst/>
          </a:prstGeom>
          <a:solidFill>
            <a:srgbClr val="12192D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83080"/>
            <a:ext cx="2103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RM Executive Brief</a:t>
            </a:r>
          </a:p>
          <a:p>
            <a:pPr>
              <a:defRPr sz="1000">
                <a:solidFill>
                  <a:srgbClr val="F59E0B"/>
                </a:solidFill>
              </a:defRPr>
            </a:pPr>
            <a:r>
              <a:t>Front-Office Enabler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1-page relationship manager cheat-sheet.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Talking points on client strengths, working capital cycle, and expansion.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Up-sell triggers: KWD 700k expansion &amp; LC trade finance.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645920"/>
            <a:ext cx="2468880" cy="4389120"/>
          </a:xfrm>
          <a:prstGeom prst="roundRect">
            <a:avLst/>
          </a:prstGeom>
          <a:solidFill>
            <a:srgbClr val="12192D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783080"/>
            <a:ext cx="2103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SSB Taharah Memo</a:t>
            </a:r>
          </a:p>
          <a:p>
            <a:pPr>
              <a:defRPr sz="1000">
                <a:solidFill>
                  <a:srgbClr val="A855F7"/>
                </a:solidFill>
              </a:defRPr>
            </a:pPr>
            <a:r>
              <a:t>Shariah Endorsement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Shariah Supervisory Board endorsement packet.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AAOIFI Standards 21 &amp; 35 compliance certificate.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Pre-drafted Bait Al-Zakat donation voucher prior to drawdown.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WARBA BANK CORPORATE BANKING · TRACK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Forensic Case Study: Gulf Pearl Foods (CR #204918-KW)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2192D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The Deception: Undisclosed Performance Bond</a:t>
            </a:r>
          </a:p>
          <a:p>
            <a:pPr>
              <a:defRPr sz="1000">
                <a:solidFill>
                  <a:srgbClr val="EF4444"/>
                </a:solidFill>
              </a:defRPr>
            </a:pPr>
            <a:r>
              <a:t>Discrepancy Ref #F-922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The Borrower Claim: In Credit Application Clause 5.2, company declared 'Zero Contingent Liabilities &amp; Zero Affiliate Guarantees'.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The Forensic Discovery: SANAD's automated circularization scanned Ministry of Justice Gazette Vol 44 and uncovered an active KWD 350,000 corporate bond issued to sister entity Pearl Logistics.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The Legal Risk: In a corporate liquidation, this undisclosed guarantee would dilute Warba Bank's ranking as senior secured creditor.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2192D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The Automated Remediation: Protective Covenant</a:t>
            </a:r>
          </a:p>
          <a:p>
            <a:pPr>
              <a:defRPr sz="1000">
                <a:solidFill>
                  <a:srgbClr val="10B981"/>
                </a:solidFill>
              </a:defRPr>
            </a:pPr>
            <a:r>
              <a:t>Autonomous Legal Armor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Condition Precedent: SANAD automatically synthesized a mandatory Condition Precedent for the credit agreement: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'Borrower must execute an irrevocable Priority &amp; Subordination Deed ranking Warba Bank facility senior to affiliate guarantee.'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Audited Citations: Directly links credit committee members to Gazette Entry 18 and Balance Sheet Note 14 in 1 click.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Result: Prevents KWD 350,000 credit impairment before facility drawdown.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WARBA BANK CORPORATE BANKING · TRACK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Shariah Governance: AAOIFI Standard No. 21 &amp; Taharah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2192D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Non-Halal Revenue Purification</a:t>
            </a:r>
          </a:p>
          <a:p>
            <a:pPr>
              <a:defRPr sz="1000">
                <a:solidFill>
                  <a:srgbClr val="10B981"/>
                </a:solidFill>
              </a:defRPr>
            </a:pPr>
            <a:r>
              <a:t>AAOIFI Standard No. 21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Footnote Forensic Screening: Screened P&amp;L Note 7 ('Other Income') and detected KWD 7,900 in conventional deposit interest.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AAOIFI Standard 21 Compliance: Prohibited income stands at 0.09% of turnover, safely below the 5.0% maximum ceiling.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Mandatory Disgorgement: 100% of the KWD 7,900 must be disgorged to designated charity Bait Al-Zakat Kuwait before facility disbursement.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2192D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Zakat Base Computation</a:t>
            </a:r>
          </a:p>
          <a:p>
            <a:pPr>
              <a:defRPr sz="1000">
                <a:solidFill>
                  <a:srgbClr val="3B82F6"/>
                </a:solidFill>
              </a:defRPr>
            </a:pPr>
            <a:r>
              <a:t>AAOIFI Standard No. 35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Step-Down Zakat Calculation: Zakatable base proxy computed at KWD 3,480,000 (60% of total assets).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Solar Calendar Rate: Applied 2.577% solar Zakat factor (AAOIFI Standard No. 35) = KWD 89,679 payable.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Ready Transfer Order: Pre-drafts electronic remittance voucher so relationship manager can close the transaction without Shariah audit delays.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WARBA BANK CORPORATE BANKING · TRACK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Proactive RM Radar &amp; Commercial Impact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2192D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Turnaround Velocity</a:t>
            </a:r>
          </a:p>
          <a:p>
            <a:pPr>
              <a:defRPr sz="1000">
                <a:solidFill>
                  <a:srgbClr val="3B82F6"/>
                </a:solidFill>
              </a:defRPr>
            </a:pPr>
            <a:r>
              <a:t>Time-to-Yes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11 Days → 38 Seconds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94% reduction in manual document synthesis time.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Accelerates credit approval turnaround from 2 weeks to same-day committee review.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Allows Warba Bank to win prime commercial borrowers first.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2192D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8308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Proactive Balance-Sheet Growth</a:t>
            </a:r>
          </a:p>
          <a:p>
            <a:pPr>
              <a:defRPr sz="1000">
                <a:solidFill>
                  <a:srgbClr val="10B981"/>
                </a:solidFill>
              </a:defRPr>
            </a:pPr>
            <a:r>
              <a:t>RM Revenue Radar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+KWD 700K Facility Expansion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Identified unencumbered liquid inventory cushion of KWD 1.2M.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Automatically recommended +KWD 700k Murabaha facility expansion.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Generates +KWD 39,375 annual net profit margin for Warba Bank.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2192D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78308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Zero Compromise Governance</a:t>
            </a:r>
          </a:p>
          <a:p>
            <a:pPr>
              <a:defRPr sz="1000">
                <a:solidFill>
                  <a:srgbClr val="F59E0B"/>
                </a:solidFill>
              </a:defRPr>
            </a:pPr>
            <a:r>
              <a:t>Institutional Audit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Cryptographic Proof Ledger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Every footnote bound to SHA-256 hash and Merkle root block height.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Sequential 3-tier digital sign-offs (Analyst, SCU, Credit Committee).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Complete compliance with CBK circulars and AAOIFI standards.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WARBA BANK CORPORATE BANKING · TRACK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Ready for Production: Live Demo &amp; Verification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07040" cy="4389120"/>
          </a:xfrm>
          <a:prstGeom prst="roundRect">
            <a:avLst/>
          </a:prstGeom>
          <a:solidFill>
            <a:srgbClr val="12192D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10241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Test the Live Production Application Directly</a:t>
            </a:r>
          </a:p>
          <a:p>
            <a:pPr>
              <a:defRPr sz="1000">
                <a:solidFill>
                  <a:srgbClr val="10B981"/>
                </a:solidFill>
              </a:defRPr>
            </a:pPr>
            <a:r>
              <a:t>Self-Guided Evaluation Protocol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🌐 Live Production Web App: https://sanad-engine.netlify.app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⚡ Live Backend API: https://sanad-production-9d51.up.railway.app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📂 GitHub Code Repository: https://github.com/anajimdeen01-debug/sanad-frontend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 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HOW TO EVALUATE IN 60 SECONDS: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1. Open Gulf Pearl Foods Trading (CR #204918-KW) from the main directory.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2. Read the 4 AI Forensic Chapters authored dynamically by Google Gemini.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3. Click citation [#F-922: Undisclosed Bond] to inspect the document provenance modal.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4. Click '⚡ Re-Analyze with Gemini' to watch live unscripted reasoning in real-time.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5. Slide the Revenue Stress slider to -25% and observe real-time DSCR recalculation.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</a:defRPr>
            </a:pPr>
            <a:r>
              <a:t>•  6. Switch to 'Client Documentation Studio' to inspect the CAM, Term Sheet, and RM Brief.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